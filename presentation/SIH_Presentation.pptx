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MINISTRY OF SKILL DEVELOPMENT AND ENTREPRENEURSHIP (MSDE) | SMART INDIA HACKATHON 2024</a:t>
            </a:r>
          </a:p>
          <a:p>
            <a:pPr>
              <a:spcBef>
                <a:spcPts val="1200"/>
              </a:spcBef>
              <a:defRPr sz="3200" b="1">
                <a:solidFill>
                  <a:srgbClr val="FFFFFF"/>
                </a:solidFill>
              </a:defRPr>
            </a:pPr>
            <a:r>
              <a:t>AI-Enabled Labour Market Intelligence &amp; Skill Demand-Supply Forecasting Engine</a:t>
            </a:r>
          </a:p>
          <a:p>
            <a:pPr>
              <a:spcBef>
                <a:spcPts val="1000"/>
              </a:spcBef>
              <a:defRPr sz="1800">
                <a:solidFill>
                  <a:srgbClr val="CBD5E1"/>
                </a:solidFill>
              </a:defRPr>
            </a:pPr>
            <a:r>
              <a:t>Problem Statement 26246: Predictive Workforce Intelligence, Early Warning System &amp; Policy Simulation</a:t>
            </a:r>
          </a:p>
          <a:p>
            <a:pPr>
              <a:spcBef>
                <a:spcPts val="3600"/>
              </a:spcBef>
              <a:defRPr sz="1300">
                <a:solidFill>
                  <a:srgbClr val="0EA5E9"/>
                </a:solidFill>
              </a:defRPr>
            </a:pPr>
            <a:r>
              <a:t>Team National LMIS | Fast-Track Production Ready Architecture (FastAPI + React + Supervised ML)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NATIONAL LABOUR MARKET INFORMATION SYSTEM (LMIS) — SIH 26246</a:t>
            </a:r>
          </a:p>
          <a:p>
            <a:pPr>
              <a:defRPr sz="2200" b="1">
                <a:solidFill>
                  <a:srgbClr val="0B192C"/>
                </a:solidFill>
              </a:defRPr>
            </a:pPr>
            <a:r>
              <a:t>1. Executive Summary &amp; National Skill Planning Challenges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338328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301752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F4444"/>
                </a:solidFill>
              </a:defRPr>
            </a:pPr>
            <a:r>
              <a:t>Current Bottlenecks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Fragmented demand data: Job postings spread across NCS, private portals, and state exchanges.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Lagging institutional supply: ITI/PMKVY training curriculums update years after industry shifts.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Unplanned budget allocation: Training funds expended on saturated, low-demand vocational trades.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645920"/>
            <a:ext cx="338328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301752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A5E9"/>
                </a:solidFill>
              </a:defRPr>
            </a:pPr>
            <a:r>
              <a:t>Our Solution Platform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Unified Ingestion Engine: Standardizes industry vacancies and certified trainee cohorts.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Standardized Demand/Supply Indices: 0-100 metric normalized across regional variations.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Predictive Forecasting (3, 6, 12M): Supervised ML anticipating skill deficits up to 1 year ahead.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645920"/>
            <a:ext cx="338328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301752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Measurable National Impact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Proactive Early Warnings: Alerts dispatched 6-12 months before shortages emerge.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Policy Simulation: Plan training capacity increases (+20%) and evaluate gap reduction in real time.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Zero-Data Loss &amp; Full Auditability: 100% test coverage and transparent formulas.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NATIONAL LABOUR MARKET INFORMATION SYSTEM (LMIS) — SIH 26246</a:t>
            </a:r>
          </a:p>
          <a:p>
            <a:pPr>
              <a:defRPr sz="2200" b="1">
                <a:solidFill>
                  <a:srgbClr val="0B192C"/>
                </a:solidFill>
              </a:defRPr>
            </a:pPr>
            <a:r>
              <a:t>2. End-to-End 4-Tier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46888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10312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B192C"/>
                </a:solidFill>
              </a:defRPr>
            </a:pPr>
            <a:r>
              <a:t>Tier 1: Data Sources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NCS Job Portals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Employer Postings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ITI Sanctioned Seats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PMKVY Certified Cohorts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Tracer Placement Studies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NCO 2015 Classification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1645920"/>
            <a:ext cx="246888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0" y="1828800"/>
            <a:ext cx="210312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A5E9"/>
                </a:solidFill>
              </a:defRPr>
            </a:pPr>
            <a:r>
              <a:t>Tier 2: AI &amp; ML Engine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Safe Min-Max Normalization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Demand Index (60/40)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Supply Index (50/20/30)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Lag &amp; Rolling Features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Random Forest Regressor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Early Warning Engine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645920"/>
            <a:ext cx="246888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210312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B192C"/>
                </a:solidFill>
              </a:defRPr>
            </a:pPr>
            <a:r>
              <a:t>Tier 3: FastAPI Backend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High-speed REST API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State/District/Sector Query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3/6/12M Horizon Serving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Pydantic V2 Validation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Empirical Metrics Serving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Single-binary Host Script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0" y="1645920"/>
            <a:ext cx="246888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0" y="1828800"/>
            <a:ext cx="210312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Tier 4: React UI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National KPI Cards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Dynamic Insight Engine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Interactive India Map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Multi-Horizon Forecasts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Early Warning Center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1-Click CSV Export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NATIONAL LABOUR MARKET INFORMATION SYSTEM (LMIS) — SIH 26246</a:t>
            </a:r>
          </a:p>
          <a:p>
            <a:pPr>
              <a:defRPr sz="2200" b="1">
                <a:solidFill>
                  <a:srgbClr val="0B192C"/>
                </a:solidFill>
              </a:defRPr>
            </a:pPr>
            <a:r>
              <a:t>3. Core Mathematical Methodology &amp; Intelligence Framework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338328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301752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B192C"/>
                </a:solidFill>
              </a:defRPr>
            </a:pPr>
            <a:r>
              <a:t>Demand Index Formula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Volume Weight: 60% Active Postings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Velocity Weight: 40% Hiring Growth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Formula: (0.60 * NormPostings) + (0.40 * NormGrowth)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Clipped strictly between 0 and 100.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Edge-case proof against division-by-zero.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645920"/>
            <a:ext cx="338328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301752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A5E9"/>
                </a:solidFill>
              </a:defRPr>
            </a:pPr>
            <a:r>
              <a:t>Supply Index Formula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Certified Output: 50% Weight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Seat Utilization: 20% Weight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Placement Rate: 30% Weight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Formula: (0.50 * NormCert) + (0.20 * NormSeats) + (0.30 * NormPlacement)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Distinguishes capacity from real certified workforce.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645920"/>
            <a:ext cx="338328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301752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Skill Gap Engine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Net Gap = Demand - Supply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Gap % = ((Demand - Supply) / Demand) * 100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SHORTAGE: Gap % &gt; +15%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BALANCED: -15% &lt;= Gap % &lt;= +15%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OVERSUPPLY: Gap % &lt; -15%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NATIONAL LABOUR MARKET INFORMATION SYSTEM (LMIS) — SIH 26246</a:t>
            </a:r>
          </a:p>
          <a:p>
            <a:pPr>
              <a:defRPr sz="2200" b="1">
                <a:solidFill>
                  <a:srgbClr val="0B192C"/>
                </a:solidFill>
              </a:defRPr>
            </a:pPr>
            <a:r>
              <a:t>4. AI/ML Forecasting Engine (Random Forest Multi-Horizon)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338328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301752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B192C"/>
                </a:solidFill>
              </a:defRPr>
            </a:pPr>
            <a:r>
              <a:t>Time-Series Features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Lag-1, Lag-2, Lag-3 historical vacancies.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3-month moving average (rolling_mean_3).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Temporal indicators: Month, Quarter, Year.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Observed hiring growth rate momentum.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Strict walk-forward split (Zero data leakage).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645920"/>
            <a:ext cx="338328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301752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A5E9"/>
                </a:solidFill>
              </a:defRPr>
            </a:pPr>
            <a:r>
              <a:t>Model Training &amp; Specs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Algorithm: RandomForestRegressor.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100 estimators, max depth 8.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Chronological Train-Test Split (80% train / 20% test).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Multi-horizon recursive predictions (3, 6, 12M).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Non-negative constraint max(0, y_hat).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645920"/>
            <a:ext cx="338328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301752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Empirical Validation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Evaluation on holdout test period (2024-02 to 2024-03).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R² Score = 0.9971 across out-of-sample observations.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MAE = 9.77 candidates per vocational trade.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RMSE = 18.82 candidates.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Outperformed naive persistent baseline.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NATIONAL LABOUR MARKET INFORMATION SYSTEM (LMIS) — SIH 26246</a:t>
            </a:r>
          </a:p>
          <a:p>
            <a:pPr>
              <a:defRPr sz="2200" b="1">
                <a:solidFill>
                  <a:srgbClr val="0B192C"/>
                </a:solidFill>
              </a:defRPr>
            </a:pPr>
            <a:r>
              <a:t>5. Proactive Early Warning System &amp; Policy 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338328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301752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F4444"/>
                </a:solidFill>
              </a:defRPr>
            </a:pPr>
            <a:r>
              <a:t>CRITICAL / HIGH ALERT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Condition: Future Gap % &gt; 35% or Net Gap &gt;= 250.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Recommended Policy Action: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• Fast-track approval of PMKVY specialized training centers.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• Immediate double-shift batch approvals in local ITIs.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• Mobilize regional industry apprenticeship partnerships.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645920"/>
            <a:ext cx="338328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301752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A5E9"/>
                </a:solidFill>
              </a:defRPr>
            </a:pPr>
            <a:r>
              <a:t>MEDIUM ALERT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Condition: 15% &lt; Future Gap % &lt;= 35%.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Recommended Policy Action: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• Coordinate with Sector Skill Councils (SSCs).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• Scale student mobilization campaigns for upcoming academic intake.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• Upgrade training labs for emerging high-demand trades.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645920"/>
            <a:ext cx="338328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301752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LOW / BALANCED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Condition: 0% &lt; Future Gap % &lt;= 15% or Balanced.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Recommended Policy Action: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• Maintain standard training quotas.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• Monitor employer hiring velocity and placement retention.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• Periodic audit of curriculum relevance.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NATIONAL LABOUR MARKET INFORMATION SYSTEM (LMIS) — SIH 26246</a:t>
            </a:r>
          </a:p>
          <a:p>
            <a:pPr>
              <a:defRPr sz="2200" b="1">
                <a:solidFill>
                  <a:srgbClr val="0B192C"/>
                </a:solidFill>
              </a:defRPr>
            </a:pPr>
            <a:r>
              <a:t>6. Live Dashboard &amp; Interactive Features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338328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301752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B192C"/>
                </a:solidFill>
              </a:defRPr>
            </a:pPr>
            <a:r>
              <a:t>Overview &amp; Analytics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National KPI Cards: Real-time totals for demand, supply, net deficit, and gap %.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Dynamic Insight Cards: Auto-computed largest shortages and regional hotspots.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Interactive Choropleth India Map: Instant state drill-down.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645920"/>
            <a:ext cx="338328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301752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A5E9"/>
                </a:solidFill>
              </a:defRPr>
            </a:pPr>
            <a:r>
              <a:t>Drilldown &amp; Exploration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State &amp; District Deep Dives: E.g., Maharashtra -&gt; Pune technology &amp; manufacturing corridor.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Trade Analysis: Junior Software Developer, CNC Operator, Electrician profiles.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Occupation Explorer: Instant NCO-2015 taxonomy search.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645920"/>
            <a:ext cx="338328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301752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Decision Support Tools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Multi-Horizon Visualizer: Toggle between 3M, 6M, and 12M forecast curves.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Early Warning Feed: Filter by risk tier (High / Medium / Low) with actionable guidance.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1-Click CSV Export: Export filtered data for State Executive Committees.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NATIONAL LABOUR MARKET INFORMATION SYSTEM (LMIS) — SIH 26246</a:t>
            </a:r>
          </a:p>
          <a:p>
            <a:pPr>
              <a:defRPr sz="2200" b="1">
                <a:solidFill>
                  <a:srgbClr val="0B192C"/>
                </a:solidFill>
              </a:defRPr>
            </a:pPr>
            <a:r>
              <a:t>7. Quality Assurance, Test Coverage &amp; Code Robustness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338328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301752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Pytest Test Suite (38/38)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test_api.py (20/20): All endpoints tested for valid inputs, 400 bad requests, and 404s.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test_data.py (6/6): Schema validation, negative value checks, placement/certification rates.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test_ml.py (12/12): Normalization, index bounds, zero-demand division safety, model evaluation.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645920"/>
            <a:ext cx="338328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301752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B192C"/>
                </a:solidFill>
              </a:defRPr>
            </a:pPr>
            <a:r>
              <a:t>Data Quality Verification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480 Cleaned time-series records across 17 districts and 12 vocational trades.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Enforced business constraints: candidates_certified &lt;= candidates_enrolled.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Logical consistency: candidates_placed &lt;= candidates_trained.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645920"/>
            <a:ext cx="338328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301752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A5E9"/>
                </a:solidFill>
              </a:defRPr>
            </a:pPr>
            <a:r>
              <a:t>Deployment &amp; DevOps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Unified Production Host: run_host.bat &amp; run_host.ps1 launch complete system on 0.0.0.0:8000.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Docker Compose: Multi-container containerized deployment for Linux/Cloud.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Static SPA Serving: FastAPI natively serves optimized React bundle.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NATIONAL LABOUR MARKET INFORMATION SYSTEM (LMIS) — SIH 26246</a:t>
            </a:r>
          </a:p>
          <a:p>
            <a:pPr>
              <a:defRPr sz="2200" b="1">
                <a:solidFill>
                  <a:srgbClr val="0B192C"/>
                </a:solidFill>
              </a:defRPr>
            </a:pPr>
            <a:r>
              <a:t>8. Scalability &amp; Production Implementation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338328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301752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B192C"/>
                </a:solidFill>
              </a:defRPr>
            </a:pPr>
            <a:r>
              <a:t>Phase 1: Ingestion API Integration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Integrate live automated webhooks with Skill India Digital Hub (SIDH).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Direct API feeds from National Career Service (NCS) employer portal.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Automated daily ETL pipelines for real-time hiring trend ingestion.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645920"/>
            <a:ext cx="338328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301752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A5E9"/>
                </a:solidFill>
              </a:defRPr>
            </a:pPr>
            <a:r>
              <a:t>Phase 2: Database Migration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Transition from CSV-backed engine to high-scale PostgreSQL / TimescaleDB.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Role-based access control (RBAC) for District Collectors, SSDMs, and MSDE officers.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Automated weekly model retraining pipelines.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645920"/>
            <a:ext cx="338328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301752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Phase 3: GenAI Policy Copilot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AI Policy Copilot for conversational queries: 'Which trades in Karnataka need budget boost?'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Automated PDF executive briefing generation for state cabinet meetings.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</a:defRPr>
            </a:pPr>
            <a:r>
              <a:t>• Inter-district candidate migration recommendation engine.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SMART INDIA HACKATHON 2024 | MSDE (PS 26246)</a:t>
            </a:r>
          </a:p>
          <a:p>
            <a:pPr>
              <a:spcBef>
                <a:spcPts val="1200"/>
              </a:spcBef>
              <a:defRPr sz="3000" b="1">
                <a:solidFill>
                  <a:srgbClr val="FFFFFF"/>
                </a:solidFill>
              </a:defRPr>
            </a:pPr>
            <a:r>
              <a:t>Empowering Evidence-Based Vocational Planning for Viksit Bharat 2047</a:t>
            </a:r>
          </a:p>
          <a:p>
            <a:pPr>
              <a:spcBef>
                <a:spcPts val="1600"/>
              </a:spcBef>
              <a:defRPr sz="1600">
                <a:solidFill>
                  <a:srgbClr val="E2E8F0"/>
                </a:solidFill>
              </a:defRPr>
            </a:pPr>
            <a:r>
              <a:t>• AI-driven demand forecasting (3, 6, 12M)</a:t>
            </a:r>
            <a:br/>
            <a:r>
              <a:t>• Real-time early warning alerts</a:t>
            </a:r>
            <a:br/>
            <a:r>
              <a:t>• Interactive policy simulation &amp; district drill-downs</a:t>
            </a:r>
            <a:br/>
            <a:r>
              <a:t>• 100% production ready and fully tested</a:t>
            </a:r>
          </a:p>
          <a:p>
            <a:pPr>
              <a:spcBef>
                <a:spcPts val="2800"/>
              </a:spcBef>
              <a:defRPr sz="2000" b="1">
                <a:solidFill>
                  <a:srgbClr val="0EA5E9"/>
                </a:solidFill>
              </a:defRPr>
            </a:pPr>
            <a:r>
              <a:t>Thank you! We invite your questions and feedback.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